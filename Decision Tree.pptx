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6" r:id="rId2"/>
    <p:sldId id="310" r:id="rId3"/>
    <p:sldId id="301" r:id="rId4"/>
    <p:sldId id="302" r:id="rId5"/>
    <p:sldId id="304" r:id="rId6"/>
    <p:sldId id="306" r:id="rId7"/>
    <p:sldId id="30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9104"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387600"/>
          </a:xfrm>
        </p:spPr>
        <p:txBody>
          <a:bodyPr anchor="b"/>
          <a:lstStyle>
            <a:lvl1pPr algn="ctr">
              <a:defRPr sz="5999"/>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5" indent="0" algn="ctr">
              <a:buNone/>
              <a:defRPr sz="2000"/>
            </a:lvl2pPr>
            <a:lvl3pPr marL="914349" indent="0" algn="ctr">
              <a:buNone/>
              <a:defRPr sz="1799"/>
            </a:lvl3pPr>
            <a:lvl4pPr marL="1371524" indent="0" algn="ctr">
              <a:buNone/>
              <a:defRPr sz="1600"/>
            </a:lvl4pPr>
            <a:lvl5pPr marL="1828698" indent="0" algn="ctr">
              <a:buNone/>
              <a:defRPr sz="1600"/>
            </a:lvl5pPr>
            <a:lvl6pPr marL="2285872" indent="0" algn="ctr">
              <a:buNone/>
              <a:defRPr sz="1600"/>
            </a:lvl6pPr>
            <a:lvl7pPr marL="2743047" indent="0" algn="ctr">
              <a:buNone/>
              <a:defRPr sz="1600"/>
            </a:lvl7pPr>
            <a:lvl8pPr marL="3200222" indent="0" algn="ctr">
              <a:buNone/>
              <a:defRPr sz="1600"/>
            </a:lvl8pPr>
            <a:lvl9pPr marL="365739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4953F0-3884-4236-8305-9D4F8DC6E073}" type="datetime1">
              <a:rPr lang="en-US" smtClean="0"/>
              <a:pPr/>
              <a:t>3/9/2026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375975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384174-7D6A-423D-8E5D-7F77F3AD881B}" type="datetime1">
              <a:rPr lang="en-US" smtClean="0"/>
              <a:pPr/>
              <a:t>3/9/2026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005472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999"/>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75" indent="0">
              <a:buNone/>
              <a:defRPr sz="2000">
                <a:solidFill>
                  <a:schemeClr val="tx1">
                    <a:tint val="75000"/>
                  </a:schemeClr>
                </a:solidFill>
              </a:defRPr>
            </a:lvl2pPr>
            <a:lvl3pPr marL="914349" indent="0">
              <a:buNone/>
              <a:defRPr sz="1799">
                <a:solidFill>
                  <a:schemeClr val="tx1">
                    <a:tint val="75000"/>
                  </a:schemeClr>
                </a:solidFill>
              </a:defRPr>
            </a:lvl3pPr>
            <a:lvl4pPr marL="1371524" indent="0">
              <a:buNone/>
              <a:defRPr sz="1600">
                <a:solidFill>
                  <a:schemeClr val="tx1">
                    <a:tint val="75000"/>
                  </a:schemeClr>
                </a:solidFill>
              </a:defRPr>
            </a:lvl4pPr>
            <a:lvl5pPr marL="1828698" indent="0">
              <a:buNone/>
              <a:defRPr sz="1600">
                <a:solidFill>
                  <a:schemeClr val="tx1">
                    <a:tint val="75000"/>
                  </a:schemeClr>
                </a:solidFill>
              </a:defRPr>
            </a:lvl5pPr>
            <a:lvl6pPr marL="2285872" indent="0">
              <a:buNone/>
              <a:defRPr sz="1600">
                <a:solidFill>
                  <a:schemeClr val="tx1">
                    <a:tint val="75000"/>
                  </a:schemeClr>
                </a:solidFill>
              </a:defRPr>
            </a:lvl6pPr>
            <a:lvl7pPr marL="2743047" indent="0">
              <a:buNone/>
              <a:defRPr sz="1600">
                <a:solidFill>
                  <a:schemeClr val="tx1">
                    <a:tint val="75000"/>
                  </a:schemeClr>
                </a:solidFill>
              </a:defRPr>
            </a:lvl7pPr>
            <a:lvl8pPr marL="3200222" indent="0">
              <a:buNone/>
              <a:defRPr sz="1600">
                <a:solidFill>
                  <a:schemeClr val="tx1">
                    <a:tint val="75000"/>
                  </a:schemeClr>
                </a:solidFill>
              </a:defRPr>
            </a:lvl8pPr>
            <a:lvl9pPr marL="365739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A331E3-52E6-4E7A-80A6-AE4A8399F357}" type="datetime1">
              <a:rPr lang="en-US" smtClean="0"/>
              <a:pPr/>
              <a:t>3/9/2026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118527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876FF6-3418-4733-A340-3BB08665B625}" type="datetime1">
              <a:rPr lang="en-US" smtClean="0"/>
              <a:pPr/>
              <a:t>3/9/2026</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03690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5" indent="0">
              <a:buNone/>
              <a:defRPr sz="2000" b="1"/>
            </a:lvl2pPr>
            <a:lvl3pPr marL="914349" indent="0">
              <a:buNone/>
              <a:defRPr sz="1799" b="1"/>
            </a:lvl3pPr>
            <a:lvl4pPr marL="1371524" indent="0">
              <a:buNone/>
              <a:defRPr sz="1600" b="1"/>
            </a:lvl4pPr>
            <a:lvl5pPr marL="1828698" indent="0">
              <a:buNone/>
              <a:defRPr sz="1600" b="1"/>
            </a:lvl5pPr>
            <a:lvl6pPr marL="2285872" indent="0">
              <a:buNone/>
              <a:defRPr sz="1600" b="1"/>
            </a:lvl6pPr>
            <a:lvl7pPr marL="2743047" indent="0">
              <a:buNone/>
              <a:defRPr sz="1600" b="1"/>
            </a:lvl7pPr>
            <a:lvl8pPr marL="3200222" indent="0">
              <a:buNone/>
              <a:defRPr sz="1600" b="1"/>
            </a:lvl8pPr>
            <a:lvl9pPr marL="365739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75" indent="0">
              <a:buNone/>
              <a:defRPr sz="2000" b="1"/>
            </a:lvl2pPr>
            <a:lvl3pPr marL="914349" indent="0">
              <a:buNone/>
              <a:defRPr sz="1799" b="1"/>
            </a:lvl3pPr>
            <a:lvl4pPr marL="1371524" indent="0">
              <a:buNone/>
              <a:defRPr sz="1600" b="1"/>
            </a:lvl4pPr>
            <a:lvl5pPr marL="1828698" indent="0">
              <a:buNone/>
              <a:defRPr sz="1600" b="1"/>
            </a:lvl5pPr>
            <a:lvl6pPr marL="2285872" indent="0">
              <a:buNone/>
              <a:defRPr sz="1600" b="1"/>
            </a:lvl6pPr>
            <a:lvl7pPr marL="2743047" indent="0">
              <a:buNone/>
              <a:defRPr sz="1600" b="1"/>
            </a:lvl7pPr>
            <a:lvl8pPr marL="3200222" indent="0">
              <a:buNone/>
              <a:defRPr sz="1600" b="1"/>
            </a:lvl8pPr>
            <a:lvl9pPr marL="365739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7DCD58-AE08-4800-85C6-0F05F355CC6A}" type="datetime1">
              <a:rPr lang="en-US" smtClean="0"/>
              <a:pPr/>
              <a:t>3/9/2026</a:t>
            </a:fld>
            <a:endParaRPr lang="en-US"/>
          </a:p>
        </p:txBody>
      </p:sp>
      <p:sp>
        <p:nvSpPr>
          <p:cNvPr id="8" name="Footer Placeholder 7"/>
          <p:cNvSpPr>
            <a:spLocks noGrp="1"/>
          </p:cNvSpPr>
          <p:nvPr>
            <p:ph type="ftr" sz="quarter" idx="11"/>
          </p:nvPr>
        </p:nvSpPr>
        <p:spPr/>
        <p:txBody>
          <a:bodyPr/>
          <a:lstStyle/>
          <a:p>
            <a:r>
              <a:rPr lang="en-US"/>
              <a:t>© polyprep.co.in</a:t>
            </a:r>
          </a:p>
        </p:txBody>
      </p:sp>
      <p:sp>
        <p:nvSpPr>
          <p:cNvPr id="9" name="Slide Number Placeholder 8"/>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5044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21AF9B-BE91-4958-AF07-AE10468439B0}" type="datetime1">
              <a:rPr lang="en-US" smtClean="0"/>
              <a:pPr/>
              <a:t>3/9/2026</a:t>
            </a:fld>
            <a:endParaRPr lang="en-US"/>
          </a:p>
        </p:txBody>
      </p:sp>
      <p:sp>
        <p:nvSpPr>
          <p:cNvPr id="4" name="Footer Placeholder 3"/>
          <p:cNvSpPr>
            <a:spLocks noGrp="1"/>
          </p:cNvSpPr>
          <p:nvPr>
            <p:ph type="ftr" sz="quarter" idx="11"/>
          </p:nvPr>
        </p:nvSpPr>
        <p:spPr/>
        <p:txBody>
          <a:bodyPr/>
          <a:lstStyle/>
          <a:p>
            <a:r>
              <a:rPr lang="en-US"/>
              <a:t>© polyprep.co.in</a:t>
            </a:r>
          </a:p>
        </p:txBody>
      </p:sp>
      <p:sp>
        <p:nvSpPr>
          <p:cNvPr id="5" name="Slide Number Placeholder 4"/>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38212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262C7-997C-411B-B69A-FBE5E87A4AB7}" type="datetime1">
              <a:rPr lang="en-US" smtClean="0"/>
              <a:pPr/>
              <a:t>3/9/2026</a:t>
            </a:fld>
            <a:endParaRPr lang="en-US"/>
          </a:p>
        </p:txBody>
      </p:sp>
      <p:sp>
        <p:nvSpPr>
          <p:cNvPr id="3" name="Footer Placeholder 2"/>
          <p:cNvSpPr>
            <a:spLocks noGrp="1"/>
          </p:cNvSpPr>
          <p:nvPr>
            <p:ph type="ftr" sz="quarter" idx="11"/>
          </p:nvPr>
        </p:nvSpPr>
        <p:spPr/>
        <p:txBody>
          <a:bodyPr/>
          <a:lstStyle/>
          <a:p>
            <a:r>
              <a:rPr lang="en-US"/>
              <a:t>© polyprep.co.in</a:t>
            </a:r>
          </a:p>
        </p:txBody>
      </p:sp>
      <p:sp>
        <p:nvSpPr>
          <p:cNvPr id="4" name="Slide Number Placeholder 3"/>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837073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5" indent="0">
              <a:buNone/>
              <a:defRPr sz="1400"/>
            </a:lvl2pPr>
            <a:lvl3pPr marL="914349" indent="0">
              <a:buNone/>
              <a:defRPr sz="1200"/>
            </a:lvl3pPr>
            <a:lvl4pPr marL="1371524" indent="0">
              <a:buNone/>
              <a:defRPr sz="1000"/>
            </a:lvl4pPr>
            <a:lvl5pPr marL="1828698" indent="0">
              <a:buNone/>
              <a:defRPr sz="1000"/>
            </a:lvl5pPr>
            <a:lvl6pPr marL="2285872" indent="0">
              <a:buNone/>
              <a:defRPr sz="1000"/>
            </a:lvl6pPr>
            <a:lvl7pPr marL="2743047" indent="0">
              <a:buNone/>
              <a:defRPr sz="1000"/>
            </a:lvl7pPr>
            <a:lvl8pPr marL="3200222" indent="0">
              <a:buNone/>
              <a:defRPr sz="1000"/>
            </a:lvl8pPr>
            <a:lvl9pPr marL="365739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875057-9CC0-42D5-8A7D-63A01E62D30A}" type="datetime1">
              <a:rPr lang="en-US" smtClean="0"/>
              <a:pPr/>
              <a:t>3/9/2026</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562724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75" indent="0">
              <a:buNone/>
              <a:defRPr sz="2800"/>
            </a:lvl2pPr>
            <a:lvl3pPr marL="914349" indent="0">
              <a:buNone/>
              <a:defRPr sz="2400"/>
            </a:lvl3pPr>
            <a:lvl4pPr marL="1371524" indent="0">
              <a:buNone/>
              <a:defRPr sz="2000"/>
            </a:lvl4pPr>
            <a:lvl5pPr marL="1828698" indent="0">
              <a:buNone/>
              <a:defRPr sz="2000"/>
            </a:lvl5pPr>
            <a:lvl6pPr marL="2285872" indent="0">
              <a:buNone/>
              <a:defRPr sz="2000"/>
            </a:lvl6pPr>
            <a:lvl7pPr marL="2743047" indent="0">
              <a:buNone/>
              <a:defRPr sz="2000"/>
            </a:lvl7pPr>
            <a:lvl8pPr marL="3200222" indent="0">
              <a:buNone/>
              <a:defRPr sz="2000"/>
            </a:lvl8pPr>
            <a:lvl9pPr marL="365739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5" indent="0">
              <a:buNone/>
              <a:defRPr sz="1400"/>
            </a:lvl2pPr>
            <a:lvl3pPr marL="914349" indent="0">
              <a:buNone/>
              <a:defRPr sz="1200"/>
            </a:lvl3pPr>
            <a:lvl4pPr marL="1371524" indent="0">
              <a:buNone/>
              <a:defRPr sz="1000"/>
            </a:lvl4pPr>
            <a:lvl5pPr marL="1828698" indent="0">
              <a:buNone/>
              <a:defRPr sz="1000"/>
            </a:lvl5pPr>
            <a:lvl6pPr marL="2285872" indent="0">
              <a:buNone/>
              <a:defRPr sz="1000"/>
            </a:lvl6pPr>
            <a:lvl7pPr marL="2743047" indent="0">
              <a:buNone/>
              <a:defRPr sz="1000"/>
            </a:lvl7pPr>
            <a:lvl8pPr marL="3200222" indent="0">
              <a:buNone/>
              <a:defRPr sz="1000"/>
            </a:lvl8pPr>
            <a:lvl9pPr marL="365739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277804-A9CD-4E0B-B53C-F8A91D62D01E}" type="datetime1">
              <a:rPr lang="en-US" smtClean="0"/>
              <a:pPr/>
              <a:t>3/9/2026</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41734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E9C4BB-3F45-457E-BD9C-F1CFFFD39305}" type="datetime1">
              <a:rPr lang="en-US" smtClean="0"/>
              <a:pPr/>
              <a:t>3/9/2026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10897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F9F7ED-E135-40B2-A35F-7FEB4A72DD54}" type="datetime1">
              <a:rPr lang="en-US" smtClean="0"/>
              <a:pPr/>
              <a:t>3/9/2026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1364312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r="-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1FEC0-C8EA-46E9-BDBA-AE52A9AE7229}" type="datetime1">
              <a:rPr lang="en-US" smtClean="0"/>
              <a:pPr/>
              <a:t>3/9/2026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polyprep.co.in</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062E63-5FCE-4494-BFA2-0F0580178C09}" type="slidenum">
              <a:rPr lang="en-US" smtClean="0"/>
              <a:pPr/>
              <a:t>‹#›</a:t>
            </a:fld>
            <a:endParaRPr lang="en-US"/>
          </a:p>
        </p:txBody>
      </p:sp>
    </p:spTree>
    <p:extLst>
      <p:ext uri="{BB962C8B-B14F-4D97-AF65-F5344CB8AC3E}">
        <p14:creationId xmlns:p14="http://schemas.microsoft.com/office/powerpoint/2010/main" val="3080030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34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7" indent="-228587" algn="l" defTabSz="91434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1" indent="-228587" algn="l" defTabSz="91434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36" indent="-228587" algn="l" defTabSz="91434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11"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7285"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4460"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634"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808"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983"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349" rtl="0" eaLnBrk="1" latinLnBrk="0" hangingPunct="1">
        <a:defRPr sz="1799" kern="1200">
          <a:solidFill>
            <a:schemeClr val="tx1"/>
          </a:solidFill>
          <a:latin typeface="+mn-lt"/>
          <a:ea typeface="+mn-ea"/>
          <a:cs typeface="+mn-cs"/>
        </a:defRPr>
      </a:lvl1pPr>
      <a:lvl2pPr marL="457175" algn="l" defTabSz="914349" rtl="0" eaLnBrk="1" latinLnBrk="0" hangingPunct="1">
        <a:defRPr sz="1799" kern="1200">
          <a:solidFill>
            <a:schemeClr val="tx1"/>
          </a:solidFill>
          <a:latin typeface="+mn-lt"/>
          <a:ea typeface="+mn-ea"/>
          <a:cs typeface="+mn-cs"/>
        </a:defRPr>
      </a:lvl2pPr>
      <a:lvl3pPr marL="914349" algn="l" defTabSz="914349" rtl="0" eaLnBrk="1" latinLnBrk="0" hangingPunct="1">
        <a:defRPr sz="1799" kern="1200">
          <a:solidFill>
            <a:schemeClr val="tx1"/>
          </a:solidFill>
          <a:latin typeface="+mn-lt"/>
          <a:ea typeface="+mn-ea"/>
          <a:cs typeface="+mn-cs"/>
        </a:defRPr>
      </a:lvl3pPr>
      <a:lvl4pPr marL="1371524" algn="l" defTabSz="914349" rtl="0" eaLnBrk="1" latinLnBrk="0" hangingPunct="1">
        <a:defRPr sz="1799" kern="1200">
          <a:solidFill>
            <a:schemeClr val="tx1"/>
          </a:solidFill>
          <a:latin typeface="+mn-lt"/>
          <a:ea typeface="+mn-ea"/>
          <a:cs typeface="+mn-cs"/>
        </a:defRPr>
      </a:lvl4pPr>
      <a:lvl5pPr marL="1828698" algn="l" defTabSz="914349" rtl="0" eaLnBrk="1" latinLnBrk="0" hangingPunct="1">
        <a:defRPr sz="1799" kern="1200">
          <a:solidFill>
            <a:schemeClr val="tx1"/>
          </a:solidFill>
          <a:latin typeface="+mn-lt"/>
          <a:ea typeface="+mn-ea"/>
          <a:cs typeface="+mn-cs"/>
        </a:defRPr>
      </a:lvl5pPr>
      <a:lvl6pPr marL="2285872" algn="l" defTabSz="914349" rtl="0" eaLnBrk="1" latinLnBrk="0" hangingPunct="1">
        <a:defRPr sz="1799" kern="1200">
          <a:solidFill>
            <a:schemeClr val="tx1"/>
          </a:solidFill>
          <a:latin typeface="+mn-lt"/>
          <a:ea typeface="+mn-ea"/>
          <a:cs typeface="+mn-cs"/>
        </a:defRPr>
      </a:lvl6pPr>
      <a:lvl7pPr marL="2743047" algn="l" defTabSz="914349" rtl="0" eaLnBrk="1" latinLnBrk="0" hangingPunct="1">
        <a:defRPr sz="1799" kern="1200">
          <a:solidFill>
            <a:schemeClr val="tx1"/>
          </a:solidFill>
          <a:latin typeface="+mn-lt"/>
          <a:ea typeface="+mn-ea"/>
          <a:cs typeface="+mn-cs"/>
        </a:defRPr>
      </a:lvl7pPr>
      <a:lvl8pPr marL="3200222" algn="l" defTabSz="914349" rtl="0" eaLnBrk="1" latinLnBrk="0" hangingPunct="1">
        <a:defRPr sz="1799" kern="1200">
          <a:solidFill>
            <a:schemeClr val="tx1"/>
          </a:solidFill>
          <a:latin typeface="+mn-lt"/>
          <a:ea typeface="+mn-ea"/>
          <a:cs typeface="+mn-cs"/>
        </a:defRPr>
      </a:lvl8pPr>
      <a:lvl9pPr marL="3657396" algn="l" defTabSz="91434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B18A886-7ABB-490B-8433-4A09BA0EF7E5}"/>
              </a:ext>
            </a:extLst>
          </p:cNvPr>
          <p:cNvSpPr txBox="1"/>
          <p:nvPr/>
        </p:nvSpPr>
        <p:spPr>
          <a:xfrm>
            <a:off x="1282636" y="3704239"/>
            <a:ext cx="10220310" cy="584775"/>
          </a:xfrm>
          <a:prstGeom prst="rect">
            <a:avLst/>
          </a:prstGeom>
          <a:noFill/>
        </p:spPr>
        <p:txBody>
          <a:bodyPr wrap="square" rtlCol="0">
            <a:spAutoFit/>
          </a:bodyPr>
          <a:lstStyle/>
          <a:p>
            <a:pPr algn="ctr"/>
            <a:r>
              <a:rPr lang="en-IN" sz="3200" b="1">
                <a:solidFill>
                  <a:schemeClr val="tx2"/>
                </a:solidFill>
                <a:latin typeface="Times New Roman" panose="02020603050405020304" pitchFamily="18" charset="0"/>
                <a:cs typeface="Times New Roman" panose="02020603050405020304" pitchFamily="18" charset="0"/>
              </a:rPr>
              <a:t>Decision </a:t>
            </a:r>
            <a:r>
              <a:rPr lang="en-IN" sz="3200" b="1" dirty="0">
                <a:solidFill>
                  <a:schemeClr val="tx2"/>
                </a:solidFill>
                <a:latin typeface="Times New Roman" panose="02020603050405020304" pitchFamily="18" charset="0"/>
                <a:cs typeface="Times New Roman" panose="02020603050405020304" pitchFamily="18" charset="0"/>
              </a:rPr>
              <a:t>Tree Algorithm</a:t>
            </a:r>
          </a:p>
        </p:txBody>
      </p:sp>
      <p:sp>
        <p:nvSpPr>
          <p:cNvPr id="8" name="Rectangle 7">
            <a:extLst>
              <a:ext uri="{FF2B5EF4-FFF2-40B4-BE49-F238E27FC236}">
                <a16:creationId xmlns:a16="http://schemas.microsoft.com/office/drawing/2014/main" id="{061705AE-7D23-4B60-9E36-95DCB650E565}"/>
              </a:ext>
            </a:extLst>
          </p:cNvPr>
          <p:cNvSpPr/>
          <p:nvPr/>
        </p:nvSpPr>
        <p:spPr>
          <a:xfrm>
            <a:off x="2330373" y="913648"/>
            <a:ext cx="8072584" cy="830997"/>
          </a:xfrm>
          <a:prstGeom prst="rect">
            <a:avLst/>
          </a:prstGeom>
        </p:spPr>
        <p:txBody>
          <a:bodyPr wrap="square">
            <a:spAutoFit/>
          </a:bodyPr>
          <a:lstStyle/>
          <a:p>
            <a:pPr lvl="0" algn="ctr"/>
            <a:r>
              <a:rPr lang="en-IN" sz="4800" b="1" dirty="0">
                <a:solidFill>
                  <a:srgbClr val="44546A"/>
                </a:solidFill>
                <a:latin typeface="Times New Roman" panose="02020603050405020304" pitchFamily="18" charset="0"/>
                <a:cs typeface="Times New Roman" panose="02020603050405020304" pitchFamily="18" charset="0"/>
              </a:rPr>
              <a:t>Machine Learning</a:t>
            </a:r>
          </a:p>
        </p:txBody>
      </p:sp>
      <p:sp>
        <p:nvSpPr>
          <p:cNvPr id="9" name="Rectangle: Rounded Corners 8">
            <a:extLst>
              <a:ext uri="{FF2B5EF4-FFF2-40B4-BE49-F238E27FC236}">
                <a16:creationId xmlns:a16="http://schemas.microsoft.com/office/drawing/2014/main" id="{AEBF3C6A-13CC-437D-B871-53EC05954E11}"/>
              </a:ext>
            </a:extLst>
          </p:cNvPr>
          <p:cNvSpPr/>
          <p:nvPr/>
        </p:nvSpPr>
        <p:spPr>
          <a:xfrm>
            <a:off x="2941983" y="2981739"/>
            <a:ext cx="6732104" cy="2067339"/>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415432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32E8D-958D-16E9-AAF0-AB6A7CC5756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95C45E-7415-E2CD-EF4D-B331D5C5E754}"/>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Decision Tree Algorithm</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2A7EFFD-35CA-70BB-12FA-EC86079C3C98}"/>
              </a:ext>
            </a:extLst>
          </p:cNvPr>
          <p:cNvSpPr txBox="1"/>
          <p:nvPr/>
        </p:nvSpPr>
        <p:spPr>
          <a:xfrm>
            <a:off x="383703" y="1144467"/>
            <a:ext cx="11649271" cy="3737946"/>
          </a:xfrm>
          <a:prstGeom prst="rect">
            <a:avLst/>
          </a:prstGeom>
          <a:noFill/>
        </p:spPr>
        <p:txBody>
          <a:bodyPr wrap="square" rtlCol="0">
            <a:spAutoFit/>
          </a:bodyPr>
          <a:lstStyle/>
          <a:p>
            <a:pPr>
              <a:lnSpc>
                <a:spcPct val="150000"/>
              </a:lnSpc>
              <a:buFont typeface="Arial" pitchFamily="34" charset="0"/>
              <a:buChar char="•"/>
            </a:pPr>
            <a:r>
              <a:rPr lang="en-US" sz="2000" dirty="0">
                <a:latin typeface="Times New Roman" pitchFamily="18" charset="0"/>
                <a:cs typeface="Times New Roman" pitchFamily="18" charset="0"/>
              </a:rPr>
              <a:t>Decision Tree is a Supervised learning technique that can be used for both classification and Regression </a:t>
            </a:r>
          </a:p>
          <a:p>
            <a:pPr>
              <a:lnSpc>
                <a:spcPct val="150000"/>
              </a:lnSpc>
            </a:pPr>
            <a:r>
              <a:rPr lang="en-US" sz="2000" dirty="0">
                <a:latin typeface="Times New Roman" pitchFamily="18" charset="0"/>
                <a:cs typeface="Times New Roman" pitchFamily="18" charset="0"/>
              </a:rPr>
              <a:t>problems, but mostly it is preferred for solving Classification problems. It is a tree-structured classifier, where </a:t>
            </a:r>
          </a:p>
          <a:p>
            <a:pPr>
              <a:lnSpc>
                <a:spcPct val="150000"/>
              </a:lnSpc>
            </a:pPr>
            <a:r>
              <a:rPr lang="en-US" sz="2000" dirty="0">
                <a:latin typeface="Times New Roman" pitchFamily="18" charset="0"/>
                <a:cs typeface="Times New Roman" pitchFamily="18" charset="0"/>
              </a:rPr>
              <a:t>internal nodes represent the features of a dataset, branches represent the decision rules and each leaf node </a:t>
            </a:r>
          </a:p>
          <a:p>
            <a:pPr>
              <a:lnSpc>
                <a:spcPct val="150000"/>
              </a:lnSpc>
            </a:pPr>
            <a:r>
              <a:rPr lang="en-US" sz="2000" dirty="0">
                <a:latin typeface="Times New Roman" pitchFamily="18" charset="0"/>
                <a:cs typeface="Times New Roman" pitchFamily="18" charset="0"/>
              </a:rPr>
              <a:t>represents the outcome.</a:t>
            </a:r>
          </a:p>
          <a:p>
            <a:pPr>
              <a:lnSpc>
                <a:spcPct val="150000"/>
              </a:lnSpc>
              <a:buFont typeface="Arial" pitchFamily="34" charset="0"/>
              <a:buChar char="•"/>
            </a:pPr>
            <a:r>
              <a:rPr lang="en-US" sz="2000" dirty="0">
                <a:latin typeface="Times New Roman" pitchFamily="18" charset="0"/>
                <a:cs typeface="Times New Roman" pitchFamily="18" charset="0"/>
              </a:rPr>
              <a:t>In a Decision tree, there are two nodes, which are the Decision Node and Leaf Node. Decision nodes are used </a:t>
            </a:r>
          </a:p>
          <a:p>
            <a:pPr>
              <a:lnSpc>
                <a:spcPct val="150000"/>
              </a:lnSpc>
            </a:pPr>
            <a:r>
              <a:rPr lang="en-US" sz="2000" dirty="0">
                <a:latin typeface="Times New Roman" pitchFamily="18" charset="0"/>
                <a:cs typeface="Times New Roman" pitchFamily="18" charset="0"/>
              </a:rPr>
              <a:t>to make any decision and have multiple branches, whereas Leaf nodes are the output of those decisions and </a:t>
            </a:r>
          </a:p>
          <a:p>
            <a:pPr>
              <a:lnSpc>
                <a:spcPct val="150000"/>
              </a:lnSpc>
            </a:pPr>
            <a:r>
              <a:rPr lang="en-US" sz="2000" dirty="0">
                <a:latin typeface="Times New Roman" pitchFamily="18" charset="0"/>
                <a:cs typeface="Times New Roman" pitchFamily="18" charset="0"/>
              </a:rPr>
              <a:t>do not contain any further branches.</a:t>
            </a:r>
          </a:p>
          <a:p>
            <a:pPr>
              <a:lnSpc>
                <a:spcPct val="150000"/>
              </a:lnSpc>
              <a:buFont typeface="Arial" pitchFamily="34" charset="0"/>
              <a:buChar char="•"/>
            </a:pPr>
            <a:r>
              <a:rPr lang="en-US" sz="2000" dirty="0">
                <a:latin typeface="Times New Roman" pitchFamily="18" charset="0"/>
                <a:cs typeface="Times New Roman" pitchFamily="18" charset="0"/>
              </a:rPr>
              <a:t>The decisions or the test are performed on the basis of features of the given dataset.</a:t>
            </a:r>
          </a:p>
        </p:txBody>
      </p:sp>
    </p:spTree>
    <p:extLst>
      <p:ext uri="{BB962C8B-B14F-4D97-AF65-F5344CB8AC3E}">
        <p14:creationId xmlns:p14="http://schemas.microsoft.com/office/powerpoint/2010/main" val="4273623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Decision Tree Algorithm (cont..)</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383703" y="1144467"/>
            <a:ext cx="11649271" cy="3268652"/>
          </a:xfrm>
          <a:prstGeom prst="rect">
            <a:avLst/>
          </a:prstGeom>
          <a:noFill/>
        </p:spPr>
        <p:txBody>
          <a:bodyPr wrap="square" rtlCol="0">
            <a:spAutoFit/>
          </a:bodyPr>
          <a:lstStyle/>
          <a:p>
            <a:pPr>
              <a:lnSpc>
                <a:spcPct val="150000"/>
              </a:lnSpc>
              <a:buFont typeface="Arial" pitchFamily="34" charset="0"/>
              <a:buChar char="•"/>
            </a:pPr>
            <a:r>
              <a:rPr lang="en-US" sz="2000" dirty="0">
                <a:latin typeface="Times New Roman" pitchFamily="18" charset="0"/>
                <a:cs typeface="Times New Roman" pitchFamily="18" charset="0"/>
              </a:rPr>
              <a:t>It is a graphical representation for getting all the possible solutions to a problem/decision based on given conditions.</a:t>
            </a:r>
          </a:p>
          <a:p>
            <a:pPr>
              <a:lnSpc>
                <a:spcPct val="150000"/>
              </a:lnSpc>
              <a:buFont typeface="Arial" pitchFamily="34" charset="0"/>
              <a:buChar char="•"/>
            </a:pPr>
            <a:r>
              <a:rPr lang="en-US" sz="2000" dirty="0">
                <a:latin typeface="Times New Roman" pitchFamily="18" charset="0"/>
                <a:cs typeface="Times New Roman" pitchFamily="18" charset="0"/>
              </a:rPr>
              <a:t>It is called a decision tree because, similar to a tree, it starts with the root node, which expands on further branches and constructs a tree-like structure.</a:t>
            </a:r>
          </a:p>
          <a:p>
            <a:pPr>
              <a:lnSpc>
                <a:spcPct val="150000"/>
              </a:lnSpc>
              <a:buFont typeface="Arial" pitchFamily="34" charset="0"/>
              <a:buChar char="•"/>
            </a:pPr>
            <a:r>
              <a:rPr lang="en-US" sz="2000" dirty="0">
                <a:latin typeface="Times New Roman" pitchFamily="18" charset="0"/>
                <a:cs typeface="Times New Roman" pitchFamily="18" charset="0"/>
              </a:rPr>
              <a:t>In order to build a tree, we use the CART algorithm, which stands for Classification and Regression Tree algorithm.</a:t>
            </a:r>
          </a:p>
          <a:p>
            <a:pPr>
              <a:lnSpc>
                <a:spcPct val="150000"/>
              </a:lnSpc>
              <a:buFont typeface="Arial" pitchFamily="34" charset="0"/>
              <a:buChar char="•"/>
            </a:pPr>
            <a:r>
              <a:rPr lang="en-US" sz="2000" dirty="0">
                <a:latin typeface="Times New Roman" pitchFamily="18" charset="0"/>
                <a:cs typeface="Times New Roman" pitchFamily="18" charset="0"/>
              </a:rPr>
              <a:t>A decision tree simply asks a question, and based on the answer (Yes/No), it further split the tree into </a:t>
            </a:r>
            <a:r>
              <a:rPr lang="en-US" sz="2000" dirty="0" err="1">
                <a:latin typeface="Times New Roman" pitchFamily="18" charset="0"/>
                <a:cs typeface="Times New Roman" pitchFamily="18" charset="0"/>
              </a:rPr>
              <a:t>subtrees</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944281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Decision Tree Algorithm (cont..)</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pic>
        <p:nvPicPr>
          <p:cNvPr id="4" name="Picture 3" descr="decision-tree-classification-algorithm.png"/>
          <p:cNvPicPr>
            <a:picLocks noChangeAspect="1"/>
          </p:cNvPicPr>
          <p:nvPr/>
        </p:nvPicPr>
        <p:blipFill>
          <a:blip r:embed="rId2" cstate="print"/>
          <a:stretch>
            <a:fillRect/>
          </a:stretch>
        </p:blipFill>
        <p:spPr>
          <a:xfrm>
            <a:off x="2425147" y="954157"/>
            <a:ext cx="6811617" cy="4744278"/>
          </a:xfrm>
          <a:prstGeom prst="rect">
            <a:avLst/>
          </a:prstGeom>
        </p:spPr>
      </p:pic>
    </p:spTree>
    <p:extLst>
      <p:ext uri="{BB962C8B-B14F-4D97-AF65-F5344CB8AC3E}">
        <p14:creationId xmlns:p14="http://schemas.microsoft.com/office/powerpoint/2010/main" val="94428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Decision Tree Terminologies</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370452" y="998693"/>
            <a:ext cx="11649271" cy="4708981"/>
          </a:xfrm>
          <a:prstGeom prst="rect">
            <a:avLst/>
          </a:prstGeom>
          <a:noFill/>
        </p:spPr>
        <p:txBody>
          <a:bodyPr wrap="square" rtlCol="0">
            <a:spAutoFit/>
          </a:bodyPr>
          <a:lstStyle/>
          <a:p>
            <a:pPr>
              <a:lnSpc>
                <a:spcPct val="150000"/>
              </a:lnSpc>
            </a:pPr>
            <a:r>
              <a:rPr lang="en-US" sz="2000" b="1" dirty="0">
                <a:latin typeface="Times New Roman" pitchFamily="18" charset="0"/>
                <a:cs typeface="Times New Roman" pitchFamily="18" charset="0"/>
              </a:rPr>
              <a:t>Root Node:</a:t>
            </a:r>
            <a:r>
              <a:rPr lang="en-US" sz="2000" dirty="0">
                <a:latin typeface="Times New Roman" pitchFamily="18" charset="0"/>
                <a:cs typeface="Times New Roman" pitchFamily="18" charset="0"/>
              </a:rPr>
              <a:t> Root node is from where the decision tree starts. It represents the entire dataset, which further gets divided into two or more homogeneous sets.</a:t>
            </a:r>
          </a:p>
          <a:p>
            <a:pPr>
              <a:lnSpc>
                <a:spcPct val="150000"/>
              </a:lnSpc>
            </a:pPr>
            <a:r>
              <a:rPr lang="en-US" sz="2000" b="1" dirty="0">
                <a:latin typeface="Times New Roman" pitchFamily="18" charset="0"/>
                <a:cs typeface="Times New Roman" pitchFamily="18" charset="0"/>
              </a:rPr>
              <a:t>Leaf Node:</a:t>
            </a:r>
            <a:r>
              <a:rPr lang="en-US" sz="2000" dirty="0">
                <a:latin typeface="Times New Roman" pitchFamily="18" charset="0"/>
                <a:cs typeface="Times New Roman" pitchFamily="18" charset="0"/>
              </a:rPr>
              <a:t> Leaf nodes are the final output node, and the tree cannot be segregated further after getting a leaf node.</a:t>
            </a:r>
          </a:p>
          <a:p>
            <a:pPr>
              <a:lnSpc>
                <a:spcPct val="150000"/>
              </a:lnSpc>
            </a:pPr>
            <a:r>
              <a:rPr lang="en-US" sz="2000" b="1" dirty="0">
                <a:latin typeface="Times New Roman" pitchFamily="18" charset="0"/>
                <a:cs typeface="Times New Roman" pitchFamily="18" charset="0"/>
              </a:rPr>
              <a:t>Splitting:</a:t>
            </a:r>
            <a:r>
              <a:rPr lang="en-US" sz="2000" dirty="0">
                <a:latin typeface="Times New Roman" pitchFamily="18" charset="0"/>
                <a:cs typeface="Times New Roman" pitchFamily="18" charset="0"/>
              </a:rPr>
              <a:t> Splitting is the process of dividing the decision node/root node into sub-nodes according to the given conditions.</a:t>
            </a:r>
          </a:p>
          <a:p>
            <a:pPr>
              <a:lnSpc>
                <a:spcPct val="150000"/>
              </a:lnSpc>
            </a:pPr>
            <a:r>
              <a:rPr lang="en-US" sz="2000" b="1" dirty="0">
                <a:latin typeface="Times New Roman" pitchFamily="18" charset="0"/>
                <a:cs typeface="Times New Roman" pitchFamily="18" charset="0"/>
              </a:rPr>
              <a:t>Branch/Sub Tree:</a:t>
            </a:r>
            <a:r>
              <a:rPr lang="en-US" sz="2000" dirty="0">
                <a:latin typeface="Times New Roman" pitchFamily="18" charset="0"/>
                <a:cs typeface="Times New Roman" pitchFamily="18" charset="0"/>
              </a:rPr>
              <a:t> A tree formed by splitting the tree.</a:t>
            </a:r>
          </a:p>
          <a:p>
            <a:pPr>
              <a:lnSpc>
                <a:spcPct val="150000"/>
              </a:lnSpc>
            </a:pPr>
            <a:r>
              <a:rPr lang="en-US" sz="2000" b="1" dirty="0">
                <a:latin typeface="Times New Roman" pitchFamily="18" charset="0"/>
                <a:cs typeface="Times New Roman" pitchFamily="18" charset="0"/>
              </a:rPr>
              <a:t>Pruning:</a:t>
            </a:r>
            <a:r>
              <a:rPr lang="en-US" sz="2000" dirty="0">
                <a:latin typeface="Times New Roman" pitchFamily="18" charset="0"/>
                <a:cs typeface="Times New Roman" pitchFamily="18" charset="0"/>
              </a:rPr>
              <a:t> Pruning is the process of removing the unwanted branches from the tree.</a:t>
            </a:r>
          </a:p>
          <a:p>
            <a:pPr>
              <a:lnSpc>
                <a:spcPct val="150000"/>
              </a:lnSpc>
            </a:pPr>
            <a:r>
              <a:rPr lang="en-US" sz="2000" b="1" dirty="0">
                <a:latin typeface="Times New Roman" pitchFamily="18" charset="0"/>
                <a:cs typeface="Times New Roman" pitchFamily="18" charset="0"/>
              </a:rPr>
              <a:t>Parent/Child node:</a:t>
            </a:r>
            <a:r>
              <a:rPr lang="en-US" sz="2000" dirty="0">
                <a:latin typeface="Times New Roman" pitchFamily="18" charset="0"/>
                <a:cs typeface="Times New Roman" pitchFamily="18" charset="0"/>
              </a:rPr>
              <a:t> The root node of the tree is called the parent node, and other nodes are called the child nodes.</a:t>
            </a:r>
          </a:p>
        </p:txBody>
      </p:sp>
    </p:spTree>
    <p:extLst>
      <p:ext uri="{BB962C8B-B14F-4D97-AF65-F5344CB8AC3E}">
        <p14:creationId xmlns:p14="http://schemas.microsoft.com/office/powerpoint/2010/main" val="944281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Example</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383703" y="1223981"/>
            <a:ext cx="11649271" cy="2351285"/>
          </a:xfrm>
          <a:prstGeom prst="rect">
            <a:avLst/>
          </a:prstGeom>
          <a:noFill/>
        </p:spPr>
        <p:txBody>
          <a:bodyPr wrap="square" rtlCol="0">
            <a:spAutoFit/>
          </a:bodyPr>
          <a:lstStyle/>
          <a:p>
            <a:pPr>
              <a:lnSpc>
                <a:spcPct val="150000"/>
              </a:lnSpc>
            </a:pPr>
            <a:r>
              <a:rPr lang="en-US" sz="2000" dirty="0">
                <a:latin typeface="Times New Roman" pitchFamily="18" charset="0"/>
                <a:cs typeface="Times New Roman" pitchFamily="18" charset="0"/>
              </a:rPr>
              <a:t>Suppose there is a candidate who has a job offer and wants to decide whether he should accept the offer or Not. So, to solve this problem, the decision tree starts with the root node (Salary attribute by ASM). The root node splits further into the next decision node (distance from the office) and one leaf node based on the corresponding labels. The next decision node further gets split into one decision node (Cab facility) and one leaf node. Finally, the decision node splits into two leaf nodes (Accepted offers and Declined offer).</a:t>
            </a:r>
          </a:p>
        </p:txBody>
      </p:sp>
    </p:spTree>
    <p:extLst>
      <p:ext uri="{BB962C8B-B14F-4D97-AF65-F5344CB8AC3E}">
        <p14:creationId xmlns:p14="http://schemas.microsoft.com/office/powerpoint/2010/main" val="94428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Example (cont..)</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pic>
        <p:nvPicPr>
          <p:cNvPr id="4" name="Picture 3" descr="decision-tree-classification-algorithm2.png"/>
          <p:cNvPicPr>
            <a:picLocks noChangeAspect="1"/>
          </p:cNvPicPr>
          <p:nvPr/>
        </p:nvPicPr>
        <p:blipFill>
          <a:blip r:embed="rId2" cstate="print"/>
          <a:stretch>
            <a:fillRect/>
          </a:stretch>
        </p:blipFill>
        <p:spPr>
          <a:xfrm>
            <a:off x="2584174" y="954157"/>
            <a:ext cx="7659756" cy="4850295"/>
          </a:xfrm>
          <a:prstGeom prst="rect">
            <a:avLst/>
          </a:prstGeom>
        </p:spPr>
      </p:pic>
    </p:spTree>
    <p:extLst>
      <p:ext uri="{BB962C8B-B14F-4D97-AF65-F5344CB8AC3E}">
        <p14:creationId xmlns:p14="http://schemas.microsoft.com/office/powerpoint/2010/main" val="94428176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2155</TotalTime>
  <Words>488</Words>
  <Application>Microsoft Office PowerPoint</Application>
  <PresentationFormat>Widescreen</PresentationFormat>
  <Paragraphs>27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Katiyar</dc:creator>
  <cp:lastModifiedBy>Arjudeep Kulshrestha</cp:lastModifiedBy>
  <cp:revision>274</cp:revision>
  <dcterms:created xsi:type="dcterms:W3CDTF">2020-05-05T05:45:34Z</dcterms:created>
  <dcterms:modified xsi:type="dcterms:W3CDTF">2026-03-09T11:26:53Z</dcterms:modified>
</cp:coreProperties>
</file>