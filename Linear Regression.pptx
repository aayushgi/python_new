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6" r:id="rId2"/>
    <p:sldId id="314" r:id="rId3"/>
    <p:sldId id="302" r:id="rId4"/>
    <p:sldId id="303" r:id="rId5"/>
    <p:sldId id="304" r:id="rId6"/>
    <p:sldId id="305" r:id="rId7"/>
    <p:sldId id="306" r:id="rId8"/>
    <p:sldId id="307" r:id="rId9"/>
    <p:sldId id="30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9104"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2387600"/>
          </a:xfrm>
        </p:spPr>
        <p:txBody>
          <a:bodyPr anchor="b"/>
          <a:lstStyle>
            <a:lvl1pPr algn="ctr">
              <a:defRPr sz="5999"/>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5" indent="0" algn="ctr">
              <a:buNone/>
              <a:defRPr sz="2000"/>
            </a:lvl2pPr>
            <a:lvl3pPr marL="914349" indent="0" algn="ctr">
              <a:buNone/>
              <a:defRPr sz="1799"/>
            </a:lvl3pPr>
            <a:lvl4pPr marL="1371524" indent="0" algn="ctr">
              <a:buNone/>
              <a:defRPr sz="1600"/>
            </a:lvl4pPr>
            <a:lvl5pPr marL="1828698" indent="0" algn="ctr">
              <a:buNone/>
              <a:defRPr sz="1600"/>
            </a:lvl5pPr>
            <a:lvl6pPr marL="2285872" indent="0" algn="ctr">
              <a:buNone/>
              <a:defRPr sz="1600"/>
            </a:lvl6pPr>
            <a:lvl7pPr marL="2743047" indent="0" algn="ctr">
              <a:buNone/>
              <a:defRPr sz="1600"/>
            </a:lvl7pPr>
            <a:lvl8pPr marL="3200222" indent="0" algn="ctr">
              <a:buNone/>
              <a:defRPr sz="1600"/>
            </a:lvl8pPr>
            <a:lvl9pPr marL="365739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4953F0-3884-4236-8305-9D4F8DC6E073}"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375975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384174-7D6A-423D-8E5D-7F77F3AD881B}"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005472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5999"/>
            </a:lvl1pPr>
          </a:lstStyle>
          <a:p>
            <a:r>
              <a:rPr lang="en-US"/>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75" indent="0">
              <a:buNone/>
              <a:defRPr sz="2000">
                <a:solidFill>
                  <a:schemeClr val="tx1">
                    <a:tint val="75000"/>
                  </a:schemeClr>
                </a:solidFill>
              </a:defRPr>
            </a:lvl2pPr>
            <a:lvl3pPr marL="914349" indent="0">
              <a:buNone/>
              <a:defRPr sz="1799">
                <a:solidFill>
                  <a:schemeClr val="tx1">
                    <a:tint val="75000"/>
                  </a:schemeClr>
                </a:solidFill>
              </a:defRPr>
            </a:lvl3pPr>
            <a:lvl4pPr marL="1371524" indent="0">
              <a:buNone/>
              <a:defRPr sz="1600">
                <a:solidFill>
                  <a:schemeClr val="tx1">
                    <a:tint val="75000"/>
                  </a:schemeClr>
                </a:solidFill>
              </a:defRPr>
            </a:lvl4pPr>
            <a:lvl5pPr marL="1828698" indent="0">
              <a:buNone/>
              <a:defRPr sz="1600">
                <a:solidFill>
                  <a:schemeClr val="tx1">
                    <a:tint val="75000"/>
                  </a:schemeClr>
                </a:solidFill>
              </a:defRPr>
            </a:lvl5pPr>
            <a:lvl6pPr marL="2285872" indent="0">
              <a:buNone/>
              <a:defRPr sz="1600">
                <a:solidFill>
                  <a:schemeClr val="tx1">
                    <a:tint val="75000"/>
                  </a:schemeClr>
                </a:solidFill>
              </a:defRPr>
            </a:lvl6pPr>
            <a:lvl7pPr marL="2743047" indent="0">
              <a:buNone/>
              <a:defRPr sz="1600">
                <a:solidFill>
                  <a:schemeClr val="tx1">
                    <a:tint val="75000"/>
                  </a:schemeClr>
                </a:solidFill>
              </a:defRPr>
            </a:lvl7pPr>
            <a:lvl8pPr marL="3200222" indent="0">
              <a:buNone/>
              <a:defRPr sz="1600">
                <a:solidFill>
                  <a:schemeClr val="tx1">
                    <a:tint val="75000"/>
                  </a:schemeClr>
                </a:solidFill>
              </a:defRPr>
            </a:lvl8pPr>
            <a:lvl9pPr marL="3657396"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A331E3-52E6-4E7A-80A6-AE4A8399F357}"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118527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876FF6-3418-4733-A340-3BB08665B625}" type="datetime1">
              <a:rPr lang="en-US" smtClean="0"/>
              <a:pPr/>
              <a:t>2/17/2026</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03690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75" indent="0">
              <a:buNone/>
              <a:defRPr sz="2000" b="1"/>
            </a:lvl2pPr>
            <a:lvl3pPr marL="914349" indent="0">
              <a:buNone/>
              <a:defRPr sz="1799" b="1"/>
            </a:lvl3pPr>
            <a:lvl4pPr marL="1371524" indent="0">
              <a:buNone/>
              <a:defRPr sz="1600" b="1"/>
            </a:lvl4pPr>
            <a:lvl5pPr marL="1828698" indent="0">
              <a:buNone/>
              <a:defRPr sz="1600" b="1"/>
            </a:lvl5pPr>
            <a:lvl6pPr marL="2285872" indent="0">
              <a:buNone/>
              <a:defRPr sz="1600" b="1"/>
            </a:lvl6pPr>
            <a:lvl7pPr marL="2743047" indent="0">
              <a:buNone/>
              <a:defRPr sz="1600" b="1"/>
            </a:lvl7pPr>
            <a:lvl8pPr marL="3200222" indent="0">
              <a:buNone/>
              <a:defRPr sz="1600" b="1"/>
            </a:lvl8pPr>
            <a:lvl9pPr marL="3657396"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175" indent="0">
              <a:buNone/>
              <a:defRPr sz="2000" b="1"/>
            </a:lvl2pPr>
            <a:lvl3pPr marL="914349" indent="0">
              <a:buNone/>
              <a:defRPr sz="1799" b="1"/>
            </a:lvl3pPr>
            <a:lvl4pPr marL="1371524" indent="0">
              <a:buNone/>
              <a:defRPr sz="1600" b="1"/>
            </a:lvl4pPr>
            <a:lvl5pPr marL="1828698" indent="0">
              <a:buNone/>
              <a:defRPr sz="1600" b="1"/>
            </a:lvl5pPr>
            <a:lvl6pPr marL="2285872" indent="0">
              <a:buNone/>
              <a:defRPr sz="1600" b="1"/>
            </a:lvl6pPr>
            <a:lvl7pPr marL="2743047" indent="0">
              <a:buNone/>
              <a:defRPr sz="1600" b="1"/>
            </a:lvl7pPr>
            <a:lvl8pPr marL="3200222" indent="0">
              <a:buNone/>
              <a:defRPr sz="1600" b="1"/>
            </a:lvl8pPr>
            <a:lvl9pPr marL="365739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7DCD58-AE08-4800-85C6-0F05F355CC6A}" type="datetime1">
              <a:rPr lang="en-US" smtClean="0"/>
              <a:pPr/>
              <a:t>2/17/2026</a:t>
            </a:fld>
            <a:endParaRPr lang="en-US"/>
          </a:p>
        </p:txBody>
      </p:sp>
      <p:sp>
        <p:nvSpPr>
          <p:cNvPr id="8" name="Footer Placeholder 7"/>
          <p:cNvSpPr>
            <a:spLocks noGrp="1"/>
          </p:cNvSpPr>
          <p:nvPr>
            <p:ph type="ftr" sz="quarter" idx="11"/>
          </p:nvPr>
        </p:nvSpPr>
        <p:spPr/>
        <p:txBody>
          <a:bodyPr/>
          <a:lstStyle/>
          <a:p>
            <a:r>
              <a:rPr lang="en-US"/>
              <a:t>© polyprep.co.in</a:t>
            </a:r>
          </a:p>
        </p:txBody>
      </p:sp>
      <p:sp>
        <p:nvSpPr>
          <p:cNvPr id="9" name="Slide Number Placeholder 8"/>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5044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21AF9B-BE91-4958-AF07-AE10468439B0}" type="datetime1">
              <a:rPr lang="en-US" smtClean="0"/>
              <a:pPr/>
              <a:t>2/17/2026</a:t>
            </a:fld>
            <a:endParaRPr lang="en-US"/>
          </a:p>
        </p:txBody>
      </p:sp>
      <p:sp>
        <p:nvSpPr>
          <p:cNvPr id="4" name="Footer Placeholder 3"/>
          <p:cNvSpPr>
            <a:spLocks noGrp="1"/>
          </p:cNvSpPr>
          <p:nvPr>
            <p:ph type="ftr" sz="quarter" idx="11"/>
          </p:nvPr>
        </p:nvSpPr>
        <p:spPr/>
        <p:txBody>
          <a:bodyPr/>
          <a:lstStyle/>
          <a:p>
            <a:r>
              <a:rPr lang="en-US"/>
              <a:t>© polyprep.co.in</a:t>
            </a:r>
          </a:p>
        </p:txBody>
      </p:sp>
      <p:sp>
        <p:nvSpPr>
          <p:cNvPr id="5" name="Slide Number Placeholder 4"/>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382121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4262C7-997C-411B-B69A-FBE5E87A4AB7}" type="datetime1">
              <a:rPr lang="en-US" smtClean="0"/>
              <a:pPr/>
              <a:t>2/17/2026</a:t>
            </a:fld>
            <a:endParaRPr lang="en-US"/>
          </a:p>
        </p:txBody>
      </p:sp>
      <p:sp>
        <p:nvSpPr>
          <p:cNvPr id="3" name="Footer Placeholder 2"/>
          <p:cNvSpPr>
            <a:spLocks noGrp="1"/>
          </p:cNvSpPr>
          <p:nvPr>
            <p:ph type="ftr" sz="quarter" idx="11"/>
          </p:nvPr>
        </p:nvSpPr>
        <p:spPr/>
        <p:txBody>
          <a:bodyPr/>
          <a:lstStyle/>
          <a:p>
            <a:r>
              <a:rPr lang="en-US"/>
              <a:t>© polyprep.co.in</a:t>
            </a:r>
          </a:p>
        </p:txBody>
      </p:sp>
      <p:sp>
        <p:nvSpPr>
          <p:cNvPr id="4" name="Slide Number Placeholder 3"/>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2837073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5" indent="0">
              <a:buNone/>
              <a:defRPr sz="1400"/>
            </a:lvl2pPr>
            <a:lvl3pPr marL="914349" indent="0">
              <a:buNone/>
              <a:defRPr sz="1200"/>
            </a:lvl3pPr>
            <a:lvl4pPr marL="1371524" indent="0">
              <a:buNone/>
              <a:defRPr sz="1000"/>
            </a:lvl4pPr>
            <a:lvl5pPr marL="1828698" indent="0">
              <a:buNone/>
              <a:defRPr sz="1000"/>
            </a:lvl5pPr>
            <a:lvl6pPr marL="2285872" indent="0">
              <a:buNone/>
              <a:defRPr sz="1000"/>
            </a:lvl6pPr>
            <a:lvl7pPr marL="2743047" indent="0">
              <a:buNone/>
              <a:defRPr sz="1000"/>
            </a:lvl7pPr>
            <a:lvl8pPr marL="3200222" indent="0">
              <a:buNone/>
              <a:defRPr sz="1000"/>
            </a:lvl8pPr>
            <a:lvl9pPr marL="365739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875057-9CC0-42D5-8A7D-63A01E62D30A}" type="datetime1">
              <a:rPr lang="en-US" smtClean="0"/>
              <a:pPr/>
              <a:t>2/17/2026</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562724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75" indent="0">
              <a:buNone/>
              <a:defRPr sz="2800"/>
            </a:lvl2pPr>
            <a:lvl3pPr marL="914349" indent="0">
              <a:buNone/>
              <a:defRPr sz="2400"/>
            </a:lvl3pPr>
            <a:lvl4pPr marL="1371524" indent="0">
              <a:buNone/>
              <a:defRPr sz="2000"/>
            </a:lvl4pPr>
            <a:lvl5pPr marL="1828698" indent="0">
              <a:buNone/>
              <a:defRPr sz="2000"/>
            </a:lvl5pPr>
            <a:lvl6pPr marL="2285872" indent="0">
              <a:buNone/>
              <a:defRPr sz="2000"/>
            </a:lvl6pPr>
            <a:lvl7pPr marL="2743047" indent="0">
              <a:buNone/>
              <a:defRPr sz="2000"/>
            </a:lvl7pPr>
            <a:lvl8pPr marL="3200222" indent="0">
              <a:buNone/>
              <a:defRPr sz="2000"/>
            </a:lvl8pPr>
            <a:lvl9pPr marL="3657396"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75" indent="0">
              <a:buNone/>
              <a:defRPr sz="1400"/>
            </a:lvl2pPr>
            <a:lvl3pPr marL="914349" indent="0">
              <a:buNone/>
              <a:defRPr sz="1200"/>
            </a:lvl3pPr>
            <a:lvl4pPr marL="1371524" indent="0">
              <a:buNone/>
              <a:defRPr sz="1000"/>
            </a:lvl4pPr>
            <a:lvl5pPr marL="1828698" indent="0">
              <a:buNone/>
              <a:defRPr sz="1000"/>
            </a:lvl5pPr>
            <a:lvl6pPr marL="2285872" indent="0">
              <a:buNone/>
              <a:defRPr sz="1000"/>
            </a:lvl6pPr>
            <a:lvl7pPr marL="2743047" indent="0">
              <a:buNone/>
              <a:defRPr sz="1000"/>
            </a:lvl7pPr>
            <a:lvl8pPr marL="3200222" indent="0">
              <a:buNone/>
              <a:defRPr sz="1000"/>
            </a:lvl8pPr>
            <a:lvl9pPr marL="365739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277804-A9CD-4E0B-B53C-F8A91D62D01E}" type="datetime1">
              <a:rPr lang="en-US" smtClean="0"/>
              <a:pPr/>
              <a:t>2/17/2026</a:t>
            </a:fld>
            <a:endParaRPr lang="en-US"/>
          </a:p>
        </p:txBody>
      </p:sp>
      <p:sp>
        <p:nvSpPr>
          <p:cNvPr id="6" name="Footer Placeholder 5"/>
          <p:cNvSpPr>
            <a:spLocks noGrp="1"/>
          </p:cNvSpPr>
          <p:nvPr>
            <p:ph type="ftr" sz="quarter" idx="11"/>
          </p:nvPr>
        </p:nvSpPr>
        <p:spPr/>
        <p:txBody>
          <a:bodyPr/>
          <a:lstStyle/>
          <a:p>
            <a:r>
              <a:rPr lang="en-US"/>
              <a:t>© polyprep.co.in</a:t>
            </a:r>
          </a:p>
        </p:txBody>
      </p:sp>
      <p:sp>
        <p:nvSpPr>
          <p:cNvPr id="7" name="Slide Number Placeholder 6"/>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41734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E9C4BB-3F45-457E-BD9C-F1CFFFD39305}"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10897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F9F7ED-E135-40B2-A35F-7FEB4A72DD54}" type="datetime1">
              <a:rPr lang="en-US" smtClean="0"/>
              <a:pPr/>
              <a:t>2/17/2026</a:t>
            </a:fld>
            <a:endParaRPr lang="en-US"/>
          </a:p>
        </p:txBody>
      </p:sp>
      <p:sp>
        <p:nvSpPr>
          <p:cNvPr id="5" name="Footer Placeholder 4"/>
          <p:cNvSpPr>
            <a:spLocks noGrp="1"/>
          </p:cNvSpPr>
          <p:nvPr>
            <p:ph type="ftr" sz="quarter" idx="11"/>
          </p:nvPr>
        </p:nvSpPr>
        <p:spPr/>
        <p:txBody>
          <a:bodyPr/>
          <a:lstStyle/>
          <a:p>
            <a:r>
              <a:rPr lang="en-US"/>
              <a:t>© polyprep.co.in</a:t>
            </a:r>
          </a:p>
        </p:txBody>
      </p:sp>
      <p:sp>
        <p:nvSpPr>
          <p:cNvPr id="6" name="Slide Number Placeholder 5"/>
          <p:cNvSpPr>
            <a:spLocks noGrp="1"/>
          </p:cNvSpPr>
          <p:nvPr>
            <p:ph type="sldNum" sz="quarter" idx="12"/>
          </p:nvPr>
        </p:nvSpPr>
        <p:spPr/>
        <p:txBody>
          <a:bodyPr/>
          <a:lstStyle/>
          <a:p>
            <a:fld id="{8B062E63-5FCE-4494-BFA2-0F0580178C09}" type="slidenum">
              <a:rPr lang="en-US" smtClean="0"/>
              <a:pPr/>
              <a:t>‹#›</a:t>
            </a:fld>
            <a:endParaRPr lang="en-US"/>
          </a:p>
        </p:txBody>
      </p:sp>
    </p:spTree>
    <p:extLst>
      <p:ext uri="{BB962C8B-B14F-4D97-AF65-F5344CB8AC3E}">
        <p14:creationId xmlns:p14="http://schemas.microsoft.com/office/powerpoint/2010/main" val="1364312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r="-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91FEC0-C8EA-46E9-BDBA-AE52A9AE7229}" type="datetime1">
              <a:rPr lang="en-US" smtClean="0"/>
              <a:pPr/>
              <a:t>2/17/2026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polyprep.co.in</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062E63-5FCE-4494-BFA2-0F0580178C09}" type="slidenum">
              <a:rPr lang="en-US" smtClean="0"/>
              <a:pPr/>
              <a:t>‹#›</a:t>
            </a:fld>
            <a:endParaRPr lang="en-US"/>
          </a:p>
        </p:txBody>
      </p:sp>
    </p:spTree>
    <p:extLst>
      <p:ext uri="{BB962C8B-B14F-4D97-AF65-F5344CB8AC3E}">
        <p14:creationId xmlns:p14="http://schemas.microsoft.com/office/powerpoint/2010/main" val="3080030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34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7" indent="-228587" algn="l" defTabSz="91434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1" indent="-228587" algn="l" defTabSz="91434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36" indent="-228587" algn="l" defTabSz="91434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11"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7285"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4460"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634"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808"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983" indent="-228587" algn="l" defTabSz="91434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349" rtl="0" eaLnBrk="1" latinLnBrk="0" hangingPunct="1">
        <a:defRPr sz="1799" kern="1200">
          <a:solidFill>
            <a:schemeClr val="tx1"/>
          </a:solidFill>
          <a:latin typeface="+mn-lt"/>
          <a:ea typeface="+mn-ea"/>
          <a:cs typeface="+mn-cs"/>
        </a:defRPr>
      </a:lvl1pPr>
      <a:lvl2pPr marL="457175" algn="l" defTabSz="914349" rtl="0" eaLnBrk="1" latinLnBrk="0" hangingPunct="1">
        <a:defRPr sz="1799" kern="1200">
          <a:solidFill>
            <a:schemeClr val="tx1"/>
          </a:solidFill>
          <a:latin typeface="+mn-lt"/>
          <a:ea typeface="+mn-ea"/>
          <a:cs typeface="+mn-cs"/>
        </a:defRPr>
      </a:lvl2pPr>
      <a:lvl3pPr marL="914349" algn="l" defTabSz="914349" rtl="0" eaLnBrk="1" latinLnBrk="0" hangingPunct="1">
        <a:defRPr sz="1799" kern="1200">
          <a:solidFill>
            <a:schemeClr val="tx1"/>
          </a:solidFill>
          <a:latin typeface="+mn-lt"/>
          <a:ea typeface="+mn-ea"/>
          <a:cs typeface="+mn-cs"/>
        </a:defRPr>
      </a:lvl3pPr>
      <a:lvl4pPr marL="1371524" algn="l" defTabSz="914349" rtl="0" eaLnBrk="1" latinLnBrk="0" hangingPunct="1">
        <a:defRPr sz="1799" kern="1200">
          <a:solidFill>
            <a:schemeClr val="tx1"/>
          </a:solidFill>
          <a:latin typeface="+mn-lt"/>
          <a:ea typeface="+mn-ea"/>
          <a:cs typeface="+mn-cs"/>
        </a:defRPr>
      </a:lvl4pPr>
      <a:lvl5pPr marL="1828698" algn="l" defTabSz="914349" rtl="0" eaLnBrk="1" latinLnBrk="0" hangingPunct="1">
        <a:defRPr sz="1799" kern="1200">
          <a:solidFill>
            <a:schemeClr val="tx1"/>
          </a:solidFill>
          <a:latin typeface="+mn-lt"/>
          <a:ea typeface="+mn-ea"/>
          <a:cs typeface="+mn-cs"/>
        </a:defRPr>
      </a:lvl5pPr>
      <a:lvl6pPr marL="2285872" algn="l" defTabSz="914349" rtl="0" eaLnBrk="1" latinLnBrk="0" hangingPunct="1">
        <a:defRPr sz="1799" kern="1200">
          <a:solidFill>
            <a:schemeClr val="tx1"/>
          </a:solidFill>
          <a:latin typeface="+mn-lt"/>
          <a:ea typeface="+mn-ea"/>
          <a:cs typeface="+mn-cs"/>
        </a:defRPr>
      </a:lvl6pPr>
      <a:lvl7pPr marL="2743047" algn="l" defTabSz="914349" rtl="0" eaLnBrk="1" latinLnBrk="0" hangingPunct="1">
        <a:defRPr sz="1799" kern="1200">
          <a:solidFill>
            <a:schemeClr val="tx1"/>
          </a:solidFill>
          <a:latin typeface="+mn-lt"/>
          <a:ea typeface="+mn-ea"/>
          <a:cs typeface="+mn-cs"/>
        </a:defRPr>
      </a:lvl7pPr>
      <a:lvl8pPr marL="3200222" algn="l" defTabSz="914349" rtl="0" eaLnBrk="1" latinLnBrk="0" hangingPunct="1">
        <a:defRPr sz="1799" kern="1200">
          <a:solidFill>
            <a:schemeClr val="tx1"/>
          </a:solidFill>
          <a:latin typeface="+mn-lt"/>
          <a:ea typeface="+mn-ea"/>
          <a:cs typeface="+mn-cs"/>
        </a:defRPr>
      </a:lvl8pPr>
      <a:lvl9pPr marL="3657396" algn="l" defTabSz="914349"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B18A886-7ABB-490B-8433-4A09BA0EF7E5}"/>
              </a:ext>
            </a:extLst>
          </p:cNvPr>
          <p:cNvSpPr txBox="1"/>
          <p:nvPr/>
        </p:nvSpPr>
        <p:spPr>
          <a:xfrm>
            <a:off x="1282636" y="3704239"/>
            <a:ext cx="10220310" cy="584775"/>
          </a:xfrm>
          <a:prstGeom prst="rect">
            <a:avLst/>
          </a:prstGeom>
          <a:noFill/>
        </p:spPr>
        <p:txBody>
          <a:bodyPr wrap="square" rtlCol="0">
            <a:spAutoFit/>
          </a:bodyPr>
          <a:lstStyle/>
          <a:p>
            <a:pPr algn="ctr"/>
            <a:r>
              <a:rPr lang="en-IN" sz="3200" b="1" dirty="0">
                <a:solidFill>
                  <a:schemeClr val="tx2"/>
                </a:solidFill>
                <a:latin typeface="Times New Roman" panose="02020603050405020304" pitchFamily="18" charset="0"/>
                <a:cs typeface="Times New Roman" panose="02020603050405020304" pitchFamily="18" charset="0"/>
              </a:rPr>
              <a:t>Supervised Learning And Algorithms</a:t>
            </a:r>
          </a:p>
        </p:txBody>
      </p:sp>
      <p:sp>
        <p:nvSpPr>
          <p:cNvPr id="8" name="Rectangle 7">
            <a:extLst>
              <a:ext uri="{FF2B5EF4-FFF2-40B4-BE49-F238E27FC236}">
                <a16:creationId xmlns:a16="http://schemas.microsoft.com/office/drawing/2014/main" id="{061705AE-7D23-4B60-9E36-95DCB650E565}"/>
              </a:ext>
            </a:extLst>
          </p:cNvPr>
          <p:cNvSpPr/>
          <p:nvPr/>
        </p:nvSpPr>
        <p:spPr>
          <a:xfrm>
            <a:off x="2330373" y="913648"/>
            <a:ext cx="8072584" cy="830997"/>
          </a:xfrm>
          <a:prstGeom prst="rect">
            <a:avLst/>
          </a:prstGeom>
        </p:spPr>
        <p:txBody>
          <a:bodyPr wrap="square">
            <a:spAutoFit/>
          </a:bodyPr>
          <a:lstStyle/>
          <a:p>
            <a:pPr lvl="0" algn="ctr"/>
            <a:r>
              <a:rPr lang="en-IN" sz="4800" b="1" dirty="0">
                <a:solidFill>
                  <a:srgbClr val="44546A"/>
                </a:solidFill>
                <a:latin typeface="Times New Roman" panose="02020603050405020304" pitchFamily="18" charset="0"/>
                <a:cs typeface="Times New Roman" panose="02020603050405020304" pitchFamily="18" charset="0"/>
              </a:rPr>
              <a:t>Machine Learning</a:t>
            </a:r>
          </a:p>
        </p:txBody>
      </p:sp>
      <p:sp>
        <p:nvSpPr>
          <p:cNvPr id="9" name="Rectangle: Rounded Corners 8">
            <a:extLst>
              <a:ext uri="{FF2B5EF4-FFF2-40B4-BE49-F238E27FC236}">
                <a16:creationId xmlns:a16="http://schemas.microsoft.com/office/drawing/2014/main" id="{AEBF3C6A-13CC-437D-B871-53EC05954E11}"/>
              </a:ext>
            </a:extLst>
          </p:cNvPr>
          <p:cNvSpPr/>
          <p:nvPr/>
        </p:nvSpPr>
        <p:spPr>
          <a:xfrm>
            <a:off x="2941983" y="2981739"/>
            <a:ext cx="6732104" cy="2067339"/>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4154327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5235-DC34-9C7E-A0D0-5F2F9BC51F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862C873-CC8F-9B15-AEE7-F5E245957D7A}"/>
              </a:ext>
            </a:extLst>
          </p:cNvPr>
          <p:cNvSpPr txBox="1"/>
          <p:nvPr/>
        </p:nvSpPr>
        <p:spPr>
          <a:xfrm>
            <a:off x="792029" y="184769"/>
            <a:ext cx="7477327"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Supervised Learning, An Introduction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8AE2B55-635A-6B8C-1232-3321CE2088F6}"/>
              </a:ext>
            </a:extLst>
          </p:cNvPr>
          <p:cNvSpPr txBox="1"/>
          <p:nvPr/>
        </p:nvSpPr>
        <p:spPr>
          <a:xfrm>
            <a:off x="383703" y="1144467"/>
            <a:ext cx="11808297" cy="4708981"/>
          </a:xfrm>
          <a:prstGeom prst="rect">
            <a:avLst/>
          </a:prstGeom>
          <a:noFill/>
        </p:spPr>
        <p:txBody>
          <a:bodyPr wrap="none" rtlCol="0">
            <a:spAutoFit/>
          </a:bodyPr>
          <a:lstStyle/>
          <a:p>
            <a:pPr>
              <a:lnSpc>
                <a:spcPct val="150000"/>
              </a:lnSpc>
            </a:pPr>
            <a:r>
              <a:rPr lang="en-US" sz="2000" dirty="0">
                <a:latin typeface="Times New Roman" pitchFamily="18" charset="0"/>
                <a:cs typeface="Times New Roman" pitchFamily="18" charset="0"/>
              </a:rPr>
              <a:t>In Supervised Learning, a machine is trained using ‘labeled’ data. Datasets are said to be labeled when they </a:t>
            </a:r>
          </a:p>
          <a:p>
            <a:pPr>
              <a:lnSpc>
                <a:spcPct val="150000"/>
              </a:lnSpc>
            </a:pPr>
            <a:r>
              <a:rPr lang="en-US" sz="2000" dirty="0">
                <a:latin typeface="Times New Roman" pitchFamily="18" charset="0"/>
                <a:cs typeface="Times New Roman" pitchFamily="18" charset="0"/>
              </a:rPr>
              <a:t>contain both input and output parameters. In other words, the data has already been tagged with the correct </a:t>
            </a:r>
          </a:p>
          <a:p>
            <a:pPr>
              <a:lnSpc>
                <a:spcPct val="150000"/>
              </a:lnSpc>
            </a:pPr>
            <a:r>
              <a:rPr lang="en-US" sz="2000" dirty="0">
                <a:latin typeface="Times New Roman" pitchFamily="18" charset="0"/>
                <a:cs typeface="Times New Roman" pitchFamily="18" charset="0"/>
              </a:rPr>
              <a:t>answer.</a:t>
            </a:r>
          </a:p>
          <a:p>
            <a:pPr>
              <a:lnSpc>
                <a:spcPct val="150000"/>
              </a:lnSpc>
            </a:pPr>
            <a:r>
              <a:rPr lang="en-US" sz="2000" dirty="0">
                <a:latin typeface="Times New Roman" pitchFamily="18" charset="0"/>
                <a:cs typeface="Times New Roman" pitchFamily="18" charset="0"/>
              </a:rPr>
              <a:t>So, the technique mimics a classroom environment where a student learns in the presence of a supervisor </a:t>
            </a:r>
          </a:p>
          <a:p>
            <a:pPr>
              <a:lnSpc>
                <a:spcPct val="150000"/>
              </a:lnSpc>
            </a:pPr>
            <a:r>
              <a:rPr lang="en-US" sz="2000" dirty="0">
                <a:latin typeface="Times New Roman" pitchFamily="18" charset="0"/>
                <a:cs typeface="Times New Roman" pitchFamily="18" charset="0"/>
              </a:rPr>
              <a:t>or teacher. On the other hand, unsupervised learning algorithms let the models discover information and learn </a:t>
            </a:r>
          </a:p>
          <a:p>
            <a:pPr>
              <a:lnSpc>
                <a:spcPct val="150000"/>
              </a:lnSpc>
            </a:pPr>
            <a:r>
              <a:rPr lang="en-US" sz="2000" dirty="0">
                <a:latin typeface="Times New Roman" pitchFamily="18" charset="0"/>
                <a:cs typeface="Times New Roman" pitchFamily="18" charset="0"/>
              </a:rPr>
              <a:t>on their own.</a:t>
            </a:r>
          </a:p>
          <a:p>
            <a:pPr>
              <a:lnSpc>
                <a:spcPct val="150000"/>
              </a:lnSpc>
            </a:pPr>
            <a:r>
              <a:rPr lang="en-US" sz="2000" dirty="0">
                <a:latin typeface="Times New Roman" pitchFamily="18" charset="0"/>
                <a:cs typeface="Times New Roman" pitchFamily="18" charset="0"/>
              </a:rPr>
              <a:t>Supervised machine learning is immensely helpful in solving real-world computational problems. The algorithm </a:t>
            </a:r>
          </a:p>
          <a:p>
            <a:pPr>
              <a:lnSpc>
                <a:spcPct val="150000"/>
              </a:lnSpc>
            </a:pPr>
            <a:r>
              <a:rPr lang="en-US" sz="2000" dirty="0">
                <a:latin typeface="Times New Roman" pitchFamily="18" charset="0"/>
                <a:cs typeface="Times New Roman" pitchFamily="18" charset="0"/>
              </a:rPr>
              <a:t>predicts outcomes for unforeseen data by learning from labeled training data. Therefore, it takes highly-skilled </a:t>
            </a:r>
          </a:p>
          <a:p>
            <a:pPr>
              <a:lnSpc>
                <a:spcPct val="150000"/>
              </a:lnSpc>
            </a:pPr>
            <a:r>
              <a:rPr lang="en-US" sz="2000" dirty="0">
                <a:latin typeface="Times New Roman" pitchFamily="18" charset="0"/>
                <a:cs typeface="Times New Roman" pitchFamily="18" charset="0"/>
              </a:rPr>
              <a:t>data scientists to build and deploy such models. Over time, data scientists also use their technical expertise to </a:t>
            </a:r>
          </a:p>
          <a:p>
            <a:pPr>
              <a:lnSpc>
                <a:spcPct val="150000"/>
              </a:lnSpc>
            </a:pPr>
            <a:r>
              <a:rPr lang="en-US" sz="2000" dirty="0">
                <a:latin typeface="Times New Roman" pitchFamily="18" charset="0"/>
                <a:cs typeface="Times New Roman" pitchFamily="18" charset="0"/>
              </a:rPr>
              <a:t>rebuild the models to maintain the integrity of the insights given.</a:t>
            </a:r>
            <a:r>
              <a:rPr lang="en-US" sz="2000" dirty="0"/>
              <a:t>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939481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9133849"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Different Types Of Supervised Learning (Regression)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10469" y="1727562"/>
            <a:ext cx="11508471" cy="1015663"/>
          </a:xfrm>
          <a:prstGeom prst="rect">
            <a:avLst/>
          </a:prstGeom>
          <a:noFill/>
        </p:spPr>
        <p:txBody>
          <a:bodyPr wrap="none" rtlCol="0">
            <a:spAutoFit/>
          </a:bodyPr>
          <a:lstStyle/>
          <a:p>
            <a:r>
              <a:rPr lang="en-US" sz="2000" dirty="0">
                <a:latin typeface="Times New Roman" pitchFamily="18" charset="0"/>
                <a:cs typeface="Times New Roman" pitchFamily="18" charset="0"/>
              </a:rPr>
              <a:t>In regression, a single output value is produced using training data. This value is a probabilistic interpretation, </a:t>
            </a:r>
          </a:p>
          <a:p>
            <a:r>
              <a:rPr lang="en-US" sz="2000" dirty="0">
                <a:latin typeface="Times New Roman" pitchFamily="18" charset="0"/>
                <a:cs typeface="Times New Roman" pitchFamily="18" charset="0"/>
              </a:rPr>
              <a:t>which is ascertained after considering the strength of correlation among the input variables. For example, </a:t>
            </a:r>
          </a:p>
          <a:p>
            <a:r>
              <a:rPr lang="en-US" sz="2000" dirty="0">
                <a:latin typeface="Times New Roman" pitchFamily="18" charset="0"/>
                <a:cs typeface="Times New Roman" pitchFamily="18" charset="0"/>
              </a:rPr>
              <a:t>regression can help predict the price of a house based on its locality, size, etc</a:t>
            </a:r>
            <a:r>
              <a:rPr lang="en-US" sz="200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944281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9133849"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Different Types Of Supervised Learning (Classification)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702366" y="1618207"/>
            <a:ext cx="10840278" cy="1323439"/>
          </a:xfrm>
          <a:prstGeom prst="rect">
            <a:avLst/>
          </a:prstGeom>
        </p:spPr>
        <p:txBody>
          <a:bodyPr wrap="square">
            <a:spAutoFit/>
          </a:bodyPr>
          <a:lstStyle/>
          <a:p>
            <a:r>
              <a:rPr lang="en-US" sz="2000" dirty="0">
                <a:latin typeface="Times New Roman" pitchFamily="18" charset="0"/>
                <a:cs typeface="Times New Roman" pitchFamily="18" charset="0"/>
              </a:rPr>
              <a:t>It involves grouping the data into classes.  If you are thinking of extending credit to a person, you can use classification to determine whether or not a person would be a loan defaulter. When the supervised learning algorithm labels input data into two distinct classes, it is called binary classification. Multiple classifications means categorizing data into more than two classes.</a:t>
            </a:r>
          </a:p>
        </p:txBody>
      </p:sp>
    </p:spTree>
    <p:extLst>
      <p:ext uri="{BB962C8B-B14F-4D97-AF65-F5344CB8AC3E}">
        <p14:creationId xmlns:p14="http://schemas.microsoft.com/office/powerpoint/2010/main" val="94428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9133849"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Linear Regression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702366" y="1618207"/>
            <a:ext cx="10840278" cy="1323439"/>
          </a:xfrm>
          <a:prstGeom prst="rect">
            <a:avLst/>
          </a:prstGeom>
        </p:spPr>
        <p:txBody>
          <a:bodyPr wrap="square">
            <a:spAutoFit/>
          </a:bodyPr>
          <a:lstStyle/>
          <a:p>
            <a:pPr algn="just"/>
            <a:r>
              <a:rPr lang="en-US" sz="2000" dirty="0">
                <a:latin typeface="Times New Roman" pitchFamily="18" charset="0"/>
                <a:cs typeface="Times New Roman" pitchFamily="18" charset="0"/>
              </a:rPr>
              <a:t>Linear regression is used to estimate real world values like cost of houses, number of calls, total sales etc. based on continuous variable(s). Here, we establish relationship between dependent and independent variables by fitting a best line. This line of best fit is known as regression line and is represented by the linear equation Y= a *X + b</a:t>
            </a:r>
            <a:r>
              <a:rPr lang="en-US" sz="2000" dirty="0"/>
              <a:t>. </a:t>
            </a:r>
          </a:p>
        </p:txBody>
      </p:sp>
    </p:spTree>
    <p:extLst>
      <p:ext uri="{BB962C8B-B14F-4D97-AF65-F5344CB8AC3E}">
        <p14:creationId xmlns:p14="http://schemas.microsoft.com/office/powerpoint/2010/main" val="944281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9133849"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Linear Regression (cont..)</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702366" y="1618207"/>
            <a:ext cx="10840278" cy="2246769"/>
          </a:xfrm>
          <a:prstGeom prst="rect">
            <a:avLst/>
          </a:prstGeom>
        </p:spPr>
        <p:txBody>
          <a:bodyPr wrap="square">
            <a:spAutoFit/>
          </a:bodyPr>
          <a:lstStyle/>
          <a:p>
            <a:pPr algn="just"/>
            <a:r>
              <a:rPr lang="en-US" sz="2000" dirty="0">
                <a:latin typeface="Times New Roman" pitchFamily="18" charset="0"/>
                <a:cs typeface="Times New Roman" pitchFamily="18" charset="0"/>
              </a:rPr>
              <a:t>Y – Dependent Variable </a:t>
            </a:r>
          </a:p>
          <a:p>
            <a:pPr algn="just"/>
            <a:r>
              <a:rPr lang="en-US" sz="2000" dirty="0">
                <a:latin typeface="Times New Roman" pitchFamily="18" charset="0"/>
                <a:cs typeface="Times New Roman" pitchFamily="18" charset="0"/>
              </a:rPr>
              <a:t>a – Slope </a:t>
            </a:r>
          </a:p>
          <a:p>
            <a:pPr algn="just"/>
            <a:r>
              <a:rPr lang="en-US" sz="2000" dirty="0">
                <a:latin typeface="Times New Roman" pitchFamily="18" charset="0"/>
                <a:cs typeface="Times New Roman" pitchFamily="18" charset="0"/>
              </a:rPr>
              <a:t>X – Independent variable </a:t>
            </a:r>
          </a:p>
          <a:p>
            <a:pPr algn="just"/>
            <a:r>
              <a:rPr lang="en-US" sz="2000" dirty="0">
                <a:latin typeface="Times New Roman" pitchFamily="18" charset="0"/>
                <a:cs typeface="Times New Roman" pitchFamily="18" charset="0"/>
              </a:rPr>
              <a:t>b – Intercept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These coefficients a and b are derived based on minimizing the sum of squared difference of distance between data points and regression line</a:t>
            </a:r>
            <a:r>
              <a:rPr lang="en-US" sz="2000" dirty="0"/>
              <a:t>. </a:t>
            </a:r>
          </a:p>
        </p:txBody>
      </p:sp>
    </p:spTree>
    <p:extLst>
      <p:ext uri="{BB962C8B-B14F-4D97-AF65-F5344CB8AC3E}">
        <p14:creationId xmlns:p14="http://schemas.microsoft.com/office/powerpoint/2010/main" val="94428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9133849"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Types Of Linear Regression</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702366" y="1856746"/>
            <a:ext cx="10840278" cy="1015663"/>
          </a:xfrm>
          <a:prstGeom prst="rect">
            <a:avLst/>
          </a:prstGeom>
        </p:spPr>
        <p:txBody>
          <a:bodyPr wrap="square">
            <a:spAutoFit/>
          </a:bodyPr>
          <a:lstStyle/>
          <a:p>
            <a:pPr algn="just"/>
            <a:r>
              <a:rPr lang="en-US" sz="2000" dirty="0">
                <a:latin typeface="Times New Roman" pitchFamily="18" charset="0"/>
                <a:cs typeface="Times New Roman" pitchFamily="18" charset="0"/>
              </a:rPr>
              <a:t>Linear Regression is of mainly two types: Simple Linear Regression and Multiple Linear Regression. Simple Linear Regression is characterized by one independent variable while Multiple Linear Regression is characterized by more than one independent </a:t>
            </a:r>
          </a:p>
        </p:txBody>
      </p:sp>
    </p:spTree>
    <p:extLst>
      <p:ext uri="{BB962C8B-B14F-4D97-AF65-F5344CB8AC3E}">
        <p14:creationId xmlns:p14="http://schemas.microsoft.com/office/powerpoint/2010/main" val="944281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9133849"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Building A Linear </a:t>
            </a:r>
            <a:r>
              <a:rPr lang="en-IN" sz="3048" dirty="0" err="1">
                <a:solidFill>
                  <a:srgbClr val="4472C4">
                    <a:lumMod val="50000"/>
                  </a:srgbClr>
                </a:solidFill>
                <a:latin typeface="Times New Roman" panose="02020603050405020304" pitchFamily="18" charset="0"/>
                <a:cs typeface="Times New Roman" panose="02020603050405020304" pitchFamily="18" charset="0"/>
              </a:rPr>
              <a:t>Regressor</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702366" y="1856746"/>
            <a:ext cx="10840278" cy="1015663"/>
          </a:xfrm>
          <a:prstGeom prst="rect">
            <a:avLst/>
          </a:prstGeom>
        </p:spPr>
        <p:txBody>
          <a:bodyPr wrap="square">
            <a:spAutoFit/>
          </a:bodyPr>
          <a:lstStyle/>
          <a:p>
            <a:pPr algn="just"/>
            <a:r>
              <a:rPr lang="en-US" sz="2000" dirty="0">
                <a:latin typeface="Times New Roman" pitchFamily="18" charset="0"/>
                <a:cs typeface="Times New Roman" pitchFamily="18" charset="0"/>
              </a:rPr>
              <a:t>Regression is the process of estimating the relationship between input data and the continuous-valued output data. This data is usually in the form of real numbers, and our goal is to estimate the underlying function that governs the mapping from the input to the output</a:t>
            </a:r>
            <a:r>
              <a:rPr lang="en-US" sz="2000" dirty="0"/>
              <a:t>. </a:t>
            </a:r>
          </a:p>
        </p:txBody>
      </p:sp>
    </p:spTree>
    <p:extLst>
      <p:ext uri="{BB962C8B-B14F-4D97-AF65-F5344CB8AC3E}">
        <p14:creationId xmlns:p14="http://schemas.microsoft.com/office/powerpoint/2010/main" val="944281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A409DC-5501-4C05-9BFD-E07A34A4F350}"/>
              </a:ext>
            </a:extLst>
          </p:cNvPr>
          <p:cNvSpPr txBox="1"/>
          <p:nvPr/>
        </p:nvSpPr>
        <p:spPr>
          <a:xfrm>
            <a:off x="792029" y="184769"/>
            <a:ext cx="9133849" cy="561372"/>
          </a:xfrm>
          <a:prstGeom prst="rect">
            <a:avLst/>
          </a:prstGeom>
          <a:noFill/>
        </p:spPr>
        <p:txBody>
          <a:bodyPr wrap="square" rtlCol="0">
            <a:spAutoFit/>
          </a:bodyPr>
          <a:lstStyle/>
          <a:p>
            <a:pPr defTabSz="435529"/>
            <a:r>
              <a:rPr lang="en-IN" sz="3048" dirty="0">
                <a:solidFill>
                  <a:srgbClr val="4472C4">
                    <a:lumMod val="50000"/>
                  </a:srgbClr>
                </a:solidFill>
                <a:latin typeface="Times New Roman" panose="02020603050405020304" pitchFamily="18" charset="0"/>
                <a:cs typeface="Times New Roman" panose="02020603050405020304" pitchFamily="18" charset="0"/>
              </a:rPr>
              <a:t>Building A Linear </a:t>
            </a:r>
            <a:r>
              <a:rPr lang="en-IN" sz="3048" dirty="0" err="1">
                <a:solidFill>
                  <a:srgbClr val="4472C4">
                    <a:lumMod val="50000"/>
                  </a:srgbClr>
                </a:solidFill>
                <a:latin typeface="Times New Roman" panose="02020603050405020304" pitchFamily="18" charset="0"/>
                <a:cs typeface="Times New Roman" panose="02020603050405020304" pitchFamily="18" charset="0"/>
              </a:rPr>
              <a:t>Regressor</a:t>
            </a:r>
            <a:r>
              <a:rPr lang="en-IN" sz="3048" dirty="0">
                <a:solidFill>
                  <a:srgbClr val="4472C4">
                    <a:lumMod val="50000"/>
                  </a:srgbClr>
                </a:solidFill>
                <a:latin typeface="Times New Roman" panose="02020603050405020304" pitchFamily="18" charset="0"/>
                <a:cs typeface="Times New Roman" panose="02020603050405020304" pitchFamily="18" charset="0"/>
              </a:rPr>
              <a:t> (cont..)</a:t>
            </a:r>
            <a:endParaRPr lang="en-US" sz="3048" dirty="0">
              <a:solidFill>
                <a:srgbClr val="4472C4">
                  <a:lumMod val="50000"/>
                </a:srgbClr>
              </a:solidFill>
              <a:latin typeface="Times New Roman" panose="02020603050405020304" pitchFamily="18" charset="0"/>
              <a:cs typeface="Times New Roman" panose="02020603050405020304" pitchFamily="18" charset="0"/>
            </a:endParaRPr>
          </a:p>
        </p:txBody>
      </p:sp>
      <p:sp>
        <p:nvSpPr>
          <p:cNvPr id="4" name="Rectangle 3"/>
          <p:cNvSpPr/>
          <p:nvPr/>
        </p:nvSpPr>
        <p:spPr>
          <a:xfrm>
            <a:off x="702366" y="1856746"/>
            <a:ext cx="10840278" cy="2554545"/>
          </a:xfrm>
          <a:prstGeom prst="rect">
            <a:avLst/>
          </a:prstGeom>
        </p:spPr>
        <p:txBody>
          <a:bodyPr wrap="square">
            <a:spAutoFit/>
          </a:bodyPr>
          <a:lstStyle/>
          <a:p>
            <a:pPr algn="just"/>
            <a:r>
              <a:rPr lang="en-US" sz="2000" dirty="0">
                <a:latin typeface="Times New Roman" pitchFamily="18" charset="0"/>
                <a:cs typeface="Times New Roman" pitchFamily="18" charset="0"/>
              </a:rPr>
              <a:t>1 --&gt; 2 </a:t>
            </a:r>
          </a:p>
          <a:p>
            <a:pPr algn="just"/>
            <a:r>
              <a:rPr lang="en-US" sz="2000" dirty="0">
                <a:latin typeface="Times New Roman" pitchFamily="18" charset="0"/>
                <a:cs typeface="Times New Roman" pitchFamily="18" charset="0"/>
              </a:rPr>
              <a:t>3 --&gt; 6 </a:t>
            </a:r>
          </a:p>
          <a:p>
            <a:pPr algn="just"/>
            <a:r>
              <a:rPr lang="en-US" sz="2000" dirty="0">
                <a:latin typeface="Times New Roman" pitchFamily="18" charset="0"/>
                <a:cs typeface="Times New Roman" pitchFamily="18" charset="0"/>
              </a:rPr>
              <a:t>4.3 --&gt; 8.6 </a:t>
            </a:r>
          </a:p>
          <a:p>
            <a:pPr algn="just"/>
            <a:r>
              <a:rPr lang="en-US" sz="2000" dirty="0">
                <a:latin typeface="Times New Roman" pitchFamily="18" charset="0"/>
                <a:cs typeface="Times New Roman" pitchFamily="18" charset="0"/>
              </a:rPr>
              <a:t>7.1 --&gt; 14.2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You can easily estimate the relationship between the inputs and the outputs by analyzing the pattern. We can observe that the output is twice the input value in each case, hence the transformation would be: </a:t>
            </a:r>
          </a:p>
          <a:p>
            <a:pPr algn="just"/>
            <a:r>
              <a:rPr lang="en-US" sz="2000" dirty="0">
                <a:latin typeface="Times New Roman" pitchFamily="18" charset="0"/>
                <a:cs typeface="Times New Roman" pitchFamily="18" charset="0"/>
              </a:rPr>
              <a:t>f(x) = 2x </a:t>
            </a:r>
          </a:p>
        </p:txBody>
      </p:sp>
    </p:spTree>
    <p:extLst>
      <p:ext uri="{BB962C8B-B14F-4D97-AF65-F5344CB8AC3E}">
        <p14:creationId xmlns:p14="http://schemas.microsoft.com/office/powerpoint/2010/main" val="944281767"/>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2145</TotalTime>
  <Words>565</Words>
  <Application>Microsoft Office PowerPoint</Application>
  <PresentationFormat>Widescreen</PresentationFormat>
  <Paragraphs>40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Katiyar</dc:creator>
  <cp:lastModifiedBy>Arjudeep Kulshrestha</cp:lastModifiedBy>
  <cp:revision>269</cp:revision>
  <dcterms:created xsi:type="dcterms:W3CDTF">2020-05-05T05:45:34Z</dcterms:created>
  <dcterms:modified xsi:type="dcterms:W3CDTF">2026-02-17T11:44:25Z</dcterms:modified>
</cp:coreProperties>
</file>